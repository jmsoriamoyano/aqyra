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BIM</c:v>
                </c:pt>
              </c:strCache>
            </c:strRef>
          </c:tx>
          <c:spPr>
            <a:solidFill>
              <a:srgbClr val="2E6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2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E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A6A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15.4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62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E8902E"/>
            </a:solidFill>
            <a:ln w="38100" cap="flat">
              <a:solidFill>
                <a:srgbClr val="E89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02E"/>
              </a:solidFill>
              <a:ln w="9525" cap="flat">
                <a:solidFill>
                  <a:srgbClr val="E89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0.15</c:v>
                </c:pt>
                <c:pt idx="1">
                  <c:v>0.6</c:v>
                </c:pt>
                <c:pt idx="2">
                  <c:v>1.4</c:v>
                </c:pt>
                <c:pt idx="3">
                  <c:v>2.8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2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Encuadre: lo construido no es 'un agente' sino una plataforma vertical de ingenieria AEC con tres capas monetizables por separado. Horizonte doble: herramienta interna y spin-off, por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timing es el argumento: la obligacion regulatoria crea demanda y la IA agentica crea oferta. La ventana se abre ahora.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Comision Interministerial BIM (Plan BIM), INE DIRCE 1-ene-2025 (CNAE 711), informes de mercado BIM (~9-12 bn 2025, CAGR ~11 %).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 3 anos = 1,5-3% del SAM. El motor-fem NO compite con CYPE como solver; el valor esta en la orquestacion + BIM + norma.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Lidera con A (baja responsabilidad, recurrente); B como expansion; C para caja temprana; D descartado como producto suelto.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Mantener el motor pesado como diferencial interno/premium; entrar por la capa de menor friccion legal y mayor recurrencia.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Horizonte doble: fases 0-1 = herramienta interna; fases 2-4 = spin-off. No son caminos alternativos sino la misma escalera.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pregunta de decision no es interno vs externo, sino con que ritmo recorrer la escalera. Comprometer Fase 0 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669280" cy="5669280"/>
          </a:xfrm>
          <a:prstGeom prst="ellipse">
            <a:avLst/>
          </a:prstGeom>
          <a:solidFill>
            <a:srgbClr val="13273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4206240" cy="420624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Industrializacion del ecosistema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agentes de ingenieria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de escenarios de uso interno y de modelo de negocio externo  ·  mercado, dimensionamiento y roadmap de industrializacion por fases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892040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13273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89204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/ Eurocodigos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99232" y="4892040"/>
            <a:ext cx="1594714" cy="384048"/>
          </a:xfrm>
          <a:prstGeom prst="roundRect">
            <a:avLst>
              <a:gd name="adj" fmla="val 50000"/>
            </a:avLst>
          </a:prstGeom>
          <a:solidFill>
            <a:srgbClr val="13273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4892040"/>
            <a:ext cx="1594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MEP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8538" y="4892040"/>
            <a:ext cx="1342339" cy="384048"/>
          </a:xfrm>
          <a:prstGeom prst="roundRect">
            <a:avLst>
              <a:gd name="adj" fmla="val 50000"/>
            </a:avLst>
          </a:prstGeom>
          <a:solidFill>
            <a:srgbClr val="13273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8538" y="4892040"/>
            <a:ext cx="1342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lineales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5469" y="4892040"/>
            <a:ext cx="753466" cy="384048"/>
          </a:xfrm>
          <a:prstGeom prst="roundRect">
            <a:avLst>
              <a:gd name="adj" fmla="val 50000"/>
            </a:avLst>
          </a:prstGeom>
          <a:solidFill>
            <a:srgbClr val="13273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5469" y="4892040"/>
            <a:ext cx="753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83526" y="4892040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13273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83526" y="489204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openBIM / IFC · ISO 19650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estrategico  ·  version mixta (estrategia interna + base para inversores)  ·  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agente: es una plataforma vertical de ingenieria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5643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420624" cy="420624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9888" y="20574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Nucleo de calculo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2907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motor-fem propio (barra + lamina), solvers de red hidraulica/electrica y verificacion de Eurocodigos y normativa.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41148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TECNICO DURO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45643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075688"/>
            <a:ext cx="420624" cy="420624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57216" y="20574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Orquestacion agentica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8576" y="2697480"/>
            <a:ext cx="2907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y subagentes por disciplina que leen el modelo, aplican norma y redactan memoria, con memoria de despacho que aprende.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08576" y="41148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DIFERENCIAL REAL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1584" y="1783080"/>
            <a:ext cx="345643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2075688"/>
            <a:ext cx="420624" cy="420624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24544" y="20574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e interoperabilidad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75904" y="2697480"/>
            <a:ext cx="2907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/ ISO 19650, visor OpenBIM, clasificacion bsDD, validacion, BCF y compilador narracion -&gt; IFC.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75904" y="41148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FOSO Y LA PUERTA DE ENTRADA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892040"/>
            <a:ext cx="11055096" cy="1234440"/>
          </a:xfrm>
          <a:prstGeom prst="roundRect">
            <a:avLst>
              <a:gd name="adj" fmla="val 5926"/>
            </a:avLst>
          </a:prstGeom>
          <a:solidFill>
            <a:srgbClr val="16324F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YA OPERATIVO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" y="5413248"/>
            <a:ext cx="10415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(EC0-EC8)   ·   Instalaciones (PCI, electrico, clima)   ·   Obras lineales (trazado, firmes, drenaje, saneamiento, abastecimiento)   ·   Puentes (multi-tipologia)   ·   CTE   ·   Visor IFC v1.x   ·   ISO 19650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ahora: cuatro fuerzas que convergen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285232" cy="1783080"/>
          </a:xfrm>
          <a:prstGeom prst="roundRect">
            <a:avLst>
              <a:gd name="adj" fmla="val 4103"/>
            </a:avLst>
          </a:prstGeom>
          <a:solidFill>
            <a:srgbClr val="13273E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21408"/>
            <a:ext cx="310896" cy="310896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6" name="Text 4"/>
          <p:cNvSpPr/>
          <p:nvPr/>
        </p:nvSpPr>
        <p:spPr>
          <a:xfrm>
            <a:off x="1344168" y="2066544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 BIM publico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44168" y="2578608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BIM obliga de forma escalonada en licitacion publica. Nivel inicial ya exigible y nivel medio en despliegue 2025-2027.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85232" cy="1783080"/>
          </a:xfrm>
          <a:prstGeom prst="roundRect">
            <a:avLst>
              <a:gd name="adj" fmla="val 4103"/>
            </a:avLst>
          </a:prstGeom>
          <a:solidFill>
            <a:srgbClr val="13273E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121408"/>
            <a:ext cx="310896" cy="310896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066544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Salto de la IA agentica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95160" y="2578608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primera vez es viable automatizar lectura de modelo, razonamiento normativo y redaccion de memoria de extremo a extremo.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904488"/>
            <a:ext cx="5285232" cy="1783080"/>
          </a:xfrm>
          <a:prstGeom prst="roundRect">
            <a:avLst>
              <a:gd name="adj" fmla="val 4103"/>
            </a:avLst>
          </a:prstGeom>
          <a:solidFill>
            <a:srgbClr val="13273E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4197096"/>
            <a:ext cx="310896" cy="310896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14" name="Text 12"/>
          <p:cNvSpPr/>
          <p:nvPr/>
        </p:nvSpPr>
        <p:spPr>
          <a:xfrm>
            <a:off x="1344168" y="4142232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Presion de costes y plazos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44168" y="4654296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Despachos pequenos y dispersos, margenes ajustados y escasez de tecnicos senior: la automatizacion es palanca directa de productividad.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904488"/>
            <a:ext cx="5285232" cy="1783080"/>
          </a:xfrm>
          <a:prstGeom prst="roundRect">
            <a:avLst>
              <a:gd name="adj" fmla="val 4103"/>
            </a:avLst>
          </a:prstGeom>
          <a:solidFill>
            <a:srgbClr val="13273E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197096"/>
            <a:ext cx="310896" cy="310896"/>
          </a:xfrm>
          <a:prstGeom prst="ellipse">
            <a:avLst/>
          </a:prstGeom>
          <a:solidFill>
            <a:srgbClr val="F4B45C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4142232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Dolor normativo recurrente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95160" y="4654296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Eurocodigos + CTE + Normas IC + ISO 19650 en cada proyecto: tarea repetitiva, costosa y propensa a error -- el caso de uso perfecto.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Regulacion que crea demanda + mercado en expansion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BIM EN CONTRATACION PUBLICA (Espana)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2286000"/>
            <a:ext cx="0" cy="2468880"/>
          </a:xfrm>
          <a:prstGeom prst="line">
            <a:avLst/>
          </a:prstGeom>
          <a:noFill/>
          <a:ln w="25400">
            <a:solidFill>
              <a:srgbClr val="DE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2185416"/>
            <a:ext cx="256032" cy="256032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112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23865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inicial obligatorio en contratos &gt;= 5,4 M EUR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" y="3099816"/>
            <a:ext cx="256032" cy="256032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33009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inicial &gt;= 2 M EUR  ·  Nivel medio &gt;= 5,4 M EUR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" y="4014216"/>
            <a:ext cx="256032" cy="256032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941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42153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medio en contratos desde 2 M EUR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DE SOFTWARE BIM (USD bn)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92240" y="2057400"/>
          <a:ext cx="51206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492240" y="4370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~11 %  ·  Norteamerica concentra ~35 % del gasto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4983480"/>
            <a:ext cx="34564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95528" y="50749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56.348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95528" y="555955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de servicios tecnicos de arquitectura e ingenieria (CNAE 711, Espana)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34256" y="4983480"/>
            <a:ext cx="34564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62856" y="50749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~28.000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4562856" y="555955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ingenieros de caminos colegiados (ICCP)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01584" y="4983480"/>
            <a:ext cx="34564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330184" y="50749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~50.000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8330184" y="555955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arquitectos colegiados (orden de magnitud)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/ SAM / SOM: ambicion realista, no humo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6766560" cy="1078992"/>
          </a:xfrm>
          <a:prstGeom prst="roundRect">
            <a:avLst>
              <a:gd name="adj" fmla="val 6780"/>
            </a:avLst>
          </a:prstGeom>
          <a:solidFill>
            <a:srgbClr val="16324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208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21408" y="20025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~3.000 M EUR / ano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21408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AEC/BIM + automatizacion de ingenieria en Europa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154680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2E6E8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33009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21408" y="32826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40 - 55 M EUR / ano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21408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Despachos y empresas tecnicas (CNAE 711) + colegiados en Espana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43484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E890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58114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21408" y="45628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0,8 - 1,5 M EUR ARR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21408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objetivo a 3 anos (1,5 - 3 % del SAM)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0" y="1874520"/>
            <a:ext cx="3849624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CLAVE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2423160"/>
            <a:ext cx="330098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~30.000 empresas objetivo del CNAE 711 hacen proyecto / calculo / BIM.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mixto (SaaS por puesto + modulo de empresa): ~1.500 EUR/ano.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 precio: CYPE ~500-800 EUR/ano; CYPE One ~64 EUR/mes.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Adopcion temprana via colegios y canal prescriptor (CAC bajo).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direccionales para decidir, no proyeccion financiera cerrada.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8978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 no es 'otro programa de calculo': es la capa de automatizacion sobre BIM que hoy no cubre ningun incumbente.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 · USO INTERNO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Primero, multiplicar el propio despacho (bajo riesgo)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5643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420624" cy="420624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Multiplicador de productividad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333756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memorias de calculo, checklists CTE y QA de IFC en tus propios proyectos.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4389120"/>
            <a:ext cx="2907792" cy="5486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" y="43891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inmediato · horas facturables liberadas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4256" y="1783080"/>
            <a:ext cx="345643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2075688"/>
            <a:ext cx="420624" cy="420624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8576" y="26517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conocimiento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08576" y="333756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de despacho estandariza criterios entre proyectos y personas; onboarding mas rapido.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08576" y="4389120"/>
            <a:ext cx="2907792" cy="5486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745736" y="43891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Retiene el saber del ingeniero senior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1584" y="1783080"/>
            <a:ext cx="345643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5904" y="2075688"/>
            <a:ext cx="420624" cy="420624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75904" y="26517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Segundo verificador independiente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375904" y="333756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de 'espejo / puertas APTO' como checker del calculo humano.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75904" y="4389120"/>
            <a:ext cx="2907792" cy="5486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8513064" y="43891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responsabilidad y errores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54406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aqui: de-riskea el producto, genera los casos golden y demuestra el ROI antes de salir al mercado.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 · USO EXTERNO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modelos de negocio, ordenados por atractivo / riesgo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73736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24712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67912" y="17373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28432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42832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57232" y="17373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1105509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267712"/>
            <a:ext cx="384048" cy="38404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4712" y="2121408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BIM / cumplimiento (SaaS)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67912" y="2121408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 + ISO 19650 + CTE. Proceso y documentacion, no firma.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028432" y="2121408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42832" y="2121408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857232" y="2121408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i="1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 para entrar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66928" y="2889504"/>
            <a:ext cx="1105509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035808"/>
            <a:ext cx="384048" cy="384048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4712" y="288950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vertical (SaaS por puesto)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67912" y="2889504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Eurocodigos + CTE + Normas IC + IFC. Mayor ARPU.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028432" y="2889504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942832" y="2889504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857232" y="2889504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i="1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UX real, choca con incumbentes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66928" y="3657600"/>
            <a:ext cx="1105509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3803904"/>
            <a:ext cx="384048" cy="384048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24712" y="365760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productizados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67912" y="3657600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el output (memorias, coordinacion) a fraccion de coste.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028432" y="365760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42832" y="365760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57232" y="3657600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i="1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rapida, no escala como software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566928" y="4425696"/>
            <a:ext cx="1105509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4572000"/>
            <a:ext cx="384048" cy="384048"/>
          </a:xfrm>
          <a:prstGeom prst="ellipse">
            <a:avLst/>
          </a:prstGeom>
          <a:solidFill>
            <a:srgbClr val="5C6B7C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24712" y="4425696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nucleo de computo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67912" y="4425696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motor-fem + parsers IFC como API a terceros.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028432" y="4425696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942832" y="4425696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857232" y="4425696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i="1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solver no gana a CYPE: valor limitado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566928" y="5193792"/>
            <a:ext cx="1105509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6656" y="5340096"/>
            <a:ext cx="384048" cy="384048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124712" y="519379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 / peer-review IA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867912" y="5193792"/>
            <a:ext cx="4050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independiente de proyectos de terceros.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8028432" y="5193792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942832" y="5193792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857232" y="5193792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i="1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Nicho, alta confianza requerida</a:t>
            </a:r>
            <a:endParaRPr lang="en-US" sz="1030" dirty="0"/>
          </a:p>
        </p:txBody>
      </p:sp>
      <p:sp>
        <p:nvSpPr>
          <p:cNvPr id="50" name="Text 4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DEL JUEGO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restricciones que definen toda la estrategia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56432" cy="3611880"/>
          </a:xfrm>
          <a:prstGeom prst="roundRect">
            <a:avLst>
              <a:gd name="adj" fmla="val 2116"/>
            </a:avLst>
          </a:prstGeom>
          <a:solidFill>
            <a:srgbClr val="13273E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75688"/>
            <a:ext cx="420624" cy="420624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 civil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20040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calculo estructural exige ingeniero firmante. La IA no puede ser la responsable -&gt; posicionar siempre como copiloto, nunca autonomo.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4681728"/>
            <a:ext cx="2907792" cy="512064"/>
          </a:xfrm>
          <a:prstGeom prst="roundRect">
            <a:avLst>
              <a:gd name="adj" fmla="val 10714"/>
            </a:avLst>
          </a:prstGeom>
          <a:solidFill>
            <a:srgbClr val="16324F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" y="468172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y, a la vez, foso legal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4256" y="1783080"/>
            <a:ext cx="3456432" cy="3611880"/>
          </a:xfrm>
          <a:prstGeom prst="roundRect">
            <a:avLst>
              <a:gd name="adj" fmla="val 2116"/>
            </a:avLst>
          </a:prstGeom>
          <a:solidFill>
            <a:srgbClr val="13273E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2075688"/>
            <a:ext cx="420624" cy="420624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8576" y="26517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Confianza y validacion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08576" y="320040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confia en calculo de caja negra. El rigor de espejo + casos golden + validacion contra soluciones conocidas es el argumento de venta.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08576" y="4681728"/>
            <a:ext cx="2907792" cy="512064"/>
          </a:xfrm>
          <a:prstGeom prst="roundRect">
            <a:avLst>
              <a:gd name="adj" fmla="val 10714"/>
            </a:avLst>
          </a:prstGeom>
          <a:solidFill>
            <a:srgbClr val="16324F"/>
          </a:solidFill>
          <a:ln/>
        </p:spPr>
      </p:sp>
      <p:sp>
        <p:nvSpPr>
          <p:cNvPr id="17" name="Text 15"/>
          <p:cNvSpPr/>
          <p:nvPr/>
        </p:nvSpPr>
        <p:spPr>
          <a:xfrm>
            <a:off x="4745736" y="468172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QA no es coste: es producto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1584" y="1783080"/>
            <a:ext cx="3456432" cy="3611880"/>
          </a:xfrm>
          <a:prstGeom prst="roundRect">
            <a:avLst>
              <a:gd name="adj" fmla="val 2116"/>
            </a:avLst>
          </a:prstGeom>
          <a:solidFill>
            <a:srgbClr val="13273E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075688"/>
            <a:ext cx="420624" cy="420624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75904" y="26517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competir donde no se gana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75904" y="3200400"/>
            <a:ext cx="2907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CYPE domina el solver en Espana. El diferencial es integrar calculo + BIM + razonamiento normativo + memoria.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75904" y="4681728"/>
            <a:ext cx="2907792" cy="512064"/>
          </a:xfrm>
          <a:prstGeom prst="roundRect">
            <a:avLst>
              <a:gd name="adj" fmla="val 10714"/>
            </a:avLst>
          </a:prstGeom>
          <a:solidFill>
            <a:srgbClr val="16324F"/>
          </a:solidFill>
          <a:ln/>
        </p:spPr>
      </p:sp>
      <p:sp>
        <p:nvSpPr>
          <p:cNvPr id="24" name="Text 22"/>
          <p:cNvSpPr/>
          <p:nvPr/>
        </p:nvSpPr>
        <p:spPr>
          <a:xfrm>
            <a:off x="8513064" y="468172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Orquestacion, no otro paquete de calculo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ENTRADA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wedge: liderar con la capa BIM / cumplimiento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PRODUCTO PRIMERO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86968" y="2468880"/>
            <a:ext cx="237744" cy="237744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23865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responsabilidad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98448" y="26791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y documentacion, no firma estructural.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86968" y="3310128"/>
            <a:ext cx="237744" cy="237744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3227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recurrente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98448" y="3520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en cada proyecto y en cada licitacion publica.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6968" y="4151376"/>
            <a:ext cx="237744" cy="237744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4069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 amplio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98448" y="43616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managers y oficinas de proyecto, no solo calculistas.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6968" y="4992624"/>
            <a:ext cx="237744" cy="237744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298448" y="4910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Viento de cola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98448" y="5202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mandato BIM publico empuja la adopcion.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1783080"/>
            <a:ext cx="5221224" cy="4114800"/>
          </a:xfrm>
          <a:prstGeom prst="roundRect">
            <a:avLst>
              <a:gd name="adj" fmla="val 1778"/>
            </a:avLst>
          </a:prstGeom>
          <a:solidFill>
            <a:srgbClr val="16324F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COMERCIAL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2468880"/>
            <a:ext cx="4581144" cy="960120"/>
          </a:xfrm>
          <a:prstGeom prst="roundRect">
            <a:avLst>
              <a:gd name="adj" fmla="val 5714"/>
            </a:avLst>
          </a:prstGeom>
          <a:solidFill>
            <a:srgbClr val="13273E"/>
          </a:solidFill>
          <a:ln w="12700">
            <a:solidFill>
              <a:srgbClr val="E890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779776"/>
            <a:ext cx="310896" cy="310896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2615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 de lanza  ·  vende ahora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29443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BIM / cumplimiento (Visor + ISO 19650 + CTE)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3584448"/>
            <a:ext cx="4581144" cy="960120"/>
          </a:xfrm>
          <a:prstGeom prst="roundRect">
            <a:avLst>
              <a:gd name="adj" fmla="val 5714"/>
            </a:avLst>
          </a:prstGeom>
          <a:solidFill>
            <a:srgbClr val="13273E"/>
          </a:solidFill>
          <a:ln w="12700">
            <a:solidFill>
              <a:srgbClr val="3AA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3895344"/>
            <a:ext cx="310896" cy="310896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37307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 ·  upsell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40599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de estructuras e instalaciones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4700016"/>
            <a:ext cx="4581144" cy="960120"/>
          </a:xfrm>
          <a:prstGeom prst="roundRect">
            <a:avLst>
              <a:gd name="adj" fmla="val 5714"/>
            </a:avLst>
          </a:prstGeom>
          <a:solidFill>
            <a:srgbClr val="13273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5010912"/>
            <a:ext cx="310896" cy="310896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4846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/ interno  ·  diferencial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0" y="51755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calculo pesado y puentes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MIXTO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lineas de ingreso que se refuerzan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3911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 · ENTRADA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BIM / cumplimiento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0175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1.200 - 2.400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41248" y="359359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/ empresa / ano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397764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 por despacho. Visor, auditoria ISO 19650, checklist CTE.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203911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 · EXPANSION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08576" y="2313432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Copiloto por puesto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8576" y="30175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608576" y="359359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/ mes / puesto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8576" y="397764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+ instalaciones + norma. Benchmark CYPE One ~64 EUR/mes.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1584" y="17830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75904" y="203911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TEMPRANA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75904" y="2313432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productizados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5904" y="301752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proyecto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375904" y="359359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alto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75904" y="397764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Memorias, coordinacion BIM y auditorias entregadas como servicio.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212080"/>
            <a:ext cx="11055096" cy="914400"/>
          </a:xfrm>
          <a:prstGeom prst="roundRect">
            <a:avLst>
              <a:gd name="adj" fmla="val 8000"/>
            </a:avLst>
          </a:prstGeom>
          <a:solidFill>
            <a:srgbClr val="16324F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EXPAND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" y="5650992"/>
            <a:ext cx="10415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por cumplimiento (bajo riesgo) -&gt; subir a copiloto por puesto -&gt; el servicio financia el desarrollo y genera los casos de referencia.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UNITARIA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Margenes de software, con una variable a vigilar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274320" cy="27432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49631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75 - 85 %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308152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 objetivo del SaaS, una vez restado el coste de inferencia.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83864" y="178308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58184" y="2075688"/>
            <a:ext cx="274320" cy="274320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10" name="Text 8"/>
          <p:cNvSpPr/>
          <p:nvPr/>
        </p:nvSpPr>
        <p:spPr>
          <a:xfrm>
            <a:off x="3758184" y="249631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9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Coste de IA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758184" y="308152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inferencia del modelo es el principal coste variable: hay que monitorizarlo por cuenta y caso.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2075688"/>
            <a:ext cx="274320" cy="274320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49631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 bajo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75120" y="308152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colegios profesionales y prescriptores reduce el coste de adquisicion.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17736" y="178308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92056" y="2075688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9592056" y="249631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 alto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92056" y="308152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integrada en el flujo de proyecto: rotacion baja una vez adoptada.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DE ARR ORIENTATIVA (M EUR)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66928" y="4800600"/>
          <a:ext cx="64008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315200" y="4617720"/>
            <a:ext cx="4306824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43800" y="4800600"/>
            <a:ext cx="3849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palanca de margen no es el precio: es controlar el coste de inferencia por proyecto y cachear el conocimiento normativo reutilizable.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INDUSTRIALIZACION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fases: de herramienta interna a plataforma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121408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194560"/>
            <a:ext cx="621792" cy="621792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1945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04088" y="29443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Endurecer el nucleo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822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0 - 6 meses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416052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golden, CI de calculo, certificacion numerica trazable, memoria de despacho. Uso en proyectos propios.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2871216" y="1920240"/>
            <a:ext cx="2121408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2194560"/>
            <a:ext cx="621792" cy="621792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13" name="Text 11"/>
          <p:cNvSpPr/>
          <p:nvPr/>
        </p:nvSpPr>
        <p:spPr>
          <a:xfrm>
            <a:off x="3621024" y="21945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08376" y="29443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35808" y="32004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minimo vendible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35808" y="3822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6 - 12 meses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54096" y="416052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BIM/cumplimiento como SaaS. Pilotos pagados con 5-10 despachos.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175504" y="1920240"/>
            <a:ext cx="2121408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25312" y="2194560"/>
            <a:ext cx="621792" cy="621792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20" name="Text 18"/>
          <p:cNvSpPr/>
          <p:nvPr/>
        </p:nvSpPr>
        <p:spPr>
          <a:xfrm>
            <a:off x="5925312" y="21945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12664" y="29443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0096" y="32004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Spin-off · copiloto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40096" y="3822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12 - 24 meses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58384" y="416052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real (app, no chat), pricing, onboarding y soporte. Expansion a estructuras e instalaciones.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7479792" y="1920240"/>
            <a:ext cx="2121408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2194560"/>
            <a:ext cx="621792" cy="621792"/>
          </a:xfrm>
          <a:prstGeom prst="ellipse">
            <a:avLst/>
          </a:prstGeom>
          <a:solidFill>
            <a:srgbClr val="F4B45C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1945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616952" y="29443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44384" y="32004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y canal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644384" y="3822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24 - 36 meses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62672" y="416052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colegios, integraciones (IFC/Revit/CYPE), expansion Eurocodigos a UE y LatAm.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9784080" y="1920240"/>
            <a:ext cx="2121408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533888" y="2194560"/>
            <a:ext cx="621792" cy="62179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4" name="Text 32"/>
          <p:cNvSpPr/>
          <p:nvPr/>
        </p:nvSpPr>
        <p:spPr>
          <a:xfrm>
            <a:off x="10533888" y="21945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921240" y="29443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948672" y="32004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948672" y="3822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36+ meses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966960" y="4160520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disciplinas, API del nucleo, alianzas y posibles operaciones corporativas.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932688" y="5623560"/>
            <a:ext cx="10323576" cy="0"/>
          </a:xfrm>
          <a:prstGeom prst="line">
            <a:avLst/>
          </a:prstGeom>
          <a:noFill/>
          <a:ln w="25400">
            <a:solidFill>
              <a:srgbClr val="DEE5EC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66928" y="58064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se autofinancia con la anterior: interno -&gt; validacion -&gt; spin-off -&gt; escala.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NUCLEO DE LA INDUSTRIALIZACION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plugins artesanales a produccion certificada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57400"/>
            <a:ext cx="310896" cy="310896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6" name="Text 4"/>
          <p:cNvSpPr/>
          <p:nvPr/>
        </p:nvSpPr>
        <p:spPr>
          <a:xfrm>
            <a:off x="1344168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(artesanal)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2688" y="2807208"/>
            <a:ext cx="146304" cy="146304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26883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movidos por prompt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3520440"/>
            <a:ext cx="146304" cy="146304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0" name="Text 8"/>
          <p:cNvSpPr/>
          <p:nvPr/>
        </p:nvSpPr>
        <p:spPr>
          <a:xfrm>
            <a:off x="1252728" y="34015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manual y puntual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" y="4233672"/>
            <a:ext cx="146304" cy="146304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2" name="Text 10"/>
          <p:cNvSpPr/>
          <p:nvPr/>
        </p:nvSpPr>
        <p:spPr>
          <a:xfrm>
            <a:off x="1252728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en la cabeza del autor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" y="4946904"/>
            <a:ext cx="146304" cy="146304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728" y="48280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 versiones de calculo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178308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2057400"/>
            <a:ext cx="310896" cy="310896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Industrializado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12280" y="2807208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6883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de calculos con casos golden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3520440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34015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 numerica trazable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4233672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 despacho como activo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4946904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48280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Versionado, regresion y puertas de calidad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70448" y="3611880"/>
            <a:ext cx="457200" cy="457200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27" name="Text 25"/>
          <p:cNvSpPr/>
          <p:nvPr/>
        </p:nvSpPr>
        <p:spPr>
          <a:xfrm>
            <a:off x="5870448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QA rigurosa (espejo + casos golden) deja de ser deuda tecnica y se convierte en el argumento de venta y la barrera de entrada.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MITIGACIONES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puede salir mal -- y como cubrirlo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947672"/>
            <a:ext cx="329184" cy="329184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78308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por error de calculo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79008" y="1947672"/>
            <a:ext cx="329184" cy="3291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/>
          <p:nvPr/>
        </p:nvSpPr>
        <p:spPr>
          <a:xfrm>
            <a:off x="5779008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81928" y="1783080"/>
            <a:ext cx="5157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 de copiloto + revision humana obligatoria + trazabilidad y casos golden.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66928" y="2569464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734056"/>
            <a:ext cx="329184" cy="329184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8448" y="256946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Desconfianza del ingeniero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79008" y="2734056"/>
            <a:ext cx="329184" cy="3291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5779008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81928" y="2569464"/>
            <a:ext cx="5157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publica contra soluciones conocidas; transparencia del razonamiento.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566928" y="3355848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3520440"/>
            <a:ext cx="329184" cy="329184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8448" y="335584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proveedor de IA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779008" y="3520440"/>
            <a:ext cx="329184" cy="3291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5779008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81928" y="3355848"/>
            <a:ext cx="5157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Abstraer el modelo; cachear conocimiento; vigilar coste de inferencia.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66928" y="4142232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4306824"/>
            <a:ext cx="329184" cy="329184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4288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8448" y="41422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de incumbentes (CYPE, Autodesk)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779008" y="4306824"/>
            <a:ext cx="329184" cy="3291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0" name="Text 28"/>
          <p:cNvSpPr/>
          <p:nvPr/>
        </p:nvSpPr>
        <p:spPr>
          <a:xfrm>
            <a:off x="5779008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81928" y="4142232"/>
            <a:ext cx="5157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competir en solver; diferenciar por integracion BIM + norma + memoria.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566928" y="4928616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" y="5093208"/>
            <a:ext cx="329184" cy="329184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" y="5074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98448" y="492861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venta lento en el sector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779008" y="5093208"/>
            <a:ext cx="329184" cy="3291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7" name="Text 35"/>
          <p:cNvSpPr/>
          <p:nvPr/>
        </p:nvSpPr>
        <p:spPr>
          <a:xfrm>
            <a:off x="5779008" y="509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81928" y="4928616"/>
            <a:ext cx="5157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por cumplimiento (dolor agudo) y canal de colegios; servicios para caja.</a:t>
            </a:r>
            <a:endParaRPr lang="en-US" sz="118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120640" cy="5120640"/>
          </a:xfrm>
          <a:prstGeom prst="ellipse">
            <a:avLst/>
          </a:prstGeom>
          <a:solidFill>
            <a:srgbClr val="13273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 Y DECISION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Empezar por dentro, salir por el wedge,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mantener el motor como diferencial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2834640"/>
            <a:ext cx="3456432" cy="2194560"/>
          </a:xfrm>
          <a:prstGeom prst="roundRect">
            <a:avLst>
              <a:gd name="adj" fmla="val 3333"/>
            </a:avLst>
          </a:prstGeom>
          <a:solidFill>
            <a:srgbClr val="13273E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3108960"/>
            <a:ext cx="274320" cy="274320"/>
          </a:xfrm>
          <a:prstGeom prst="ellipse">
            <a:avLst/>
          </a:prstGeom>
          <a:solidFill>
            <a:srgbClr val="E8902E"/>
          </a:solidFill>
          <a:ln/>
        </p:spPr>
      </p:sp>
      <p:sp>
        <p:nvSpPr>
          <p:cNvPr id="7" name="Text 5"/>
          <p:cNvSpPr/>
          <p:nvPr/>
        </p:nvSpPr>
        <p:spPr>
          <a:xfrm>
            <a:off x="1225296" y="305409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0-1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611880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Industrializar el nucleo y usarlo en proyectos propios; lanzar el wedge BIM/cumplimiento con pilotos pagados.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2834640"/>
            <a:ext cx="3456432" cy="2194560"/>
          </a:xfrm>
          <a:prstGeom prst="roundRect">
            <a:avLst>
              <a:gd name="adj" fmla="val 3333"/>
            </a:avLst>
          </a:prstGeom>
          <a:solidFill>
            <a:srgbClr val="13273E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3108960"/>
            <a:ext cx="274320" cy="274320"/>
          </a:xfrm>
          <a:prstGeom prst="ellipse">
            <a:avLst/>
          </a:prstGeom>
          <a:solidFill>
            <a:srgbClr val="3AA6A0"/>
          </a:solidFill>
          <a:ln/>
        </p:spPr>
      </p:sp>
      <p:sp>
        <p:nvSpPr>
          <p:cNvPr id="11" name="Text 9"/>
          <p:cNvSpPr/>
          <p:nvPr/>
        </p:nvSpPr>
        <p:spPr>
          <a:xfrm>
            <a:off x="4992624" y="305409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2-3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3611880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Spin-off del copiloto vertical con UX real; escalar por canal de colegios e integraciones.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1584" y="2834640"/>
            <a:ext cx="3456432" cy="2194560"/>
          </a:xfrm>
          <a:prstGeom prst="roundRect">
            <a:avLst>
              <a:gd name="adj" fmla="val 3333"/>
            </a:avLst>
          </a:prstGeom>
          <a:solidFill>
            <a:srgbClr val="13273E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75904" y="3108960"/>
            <a:ext cx="274320" cy="27432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15" name="Text 13"/>
          <p:cNvSpPr/>
          <p:nvPr/>
        </p:nvSpPr>
        <p:spPr>
          <a:xfrm>
            <a:off x="8759952" y="305409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75904" y="3611880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4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el horizonte (ya definido: ambos por etapas) y comprometer la Fase 0 con metricas de horas ahorradas y cobertura de casos golden.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534924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E8902E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5349240"/>
            <a:ext cx="10323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 paso: definir el alcance de la Fase 0 (casos golden prioritarios, metricas de ROI y los 3-5 despachos piloto del wedge).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Estructurando  ·  Industrializacion del ecosistema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Industrializacion del ecosistema de agentes de ingenieria</dc:title>
  <dc:subject>PptxGenJS Presentation</dc:subject>
  <dc:creator>Estructurando</dc:creator>
  <cp:lastModifiedBy>Estructurando</cp:lastModifiedBy>
  <cp:revision>1</cp:revision>
  <dcterms:created xsi:type="dcterms:W3CDTF">2026-06-23T14:49:52Z</dcterms:created>
  <dcterms:modified xsi:type="dcterms:W3CDTF">2026-06-23T14:49:52Z</dcterms:modified>
</cp:coreProperties>
</file>